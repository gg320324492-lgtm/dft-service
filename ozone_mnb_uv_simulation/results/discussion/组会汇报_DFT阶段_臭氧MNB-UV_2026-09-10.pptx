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6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  <p:sldMasterId id="2147483682" r:id="rId4"/>
    <p:sldMasterId id="2147483700" r:id="rId5"/>
    <p:sldMasterId id="2147483717" r:id="rId6"/>
    <p:sldMasterId id="2147483731" r:id="rId7"/>
    <p:sldMasterId id="2147483745" r:id="rId8"/>
    <p:sldMasterId id="2147483757" r:id="rId9"/>
  </p:sldMasterIdLst>
  <p:notesMasterIdLst>
    <p:notesMasterId r:id="rId11"/>
  </p:notesMasterIdLst>
  <p:handoutMasterIdLst>
    <p:handoutMasterId r:id="rId36"/>
  </p:handoutMasterIdLst>
  <p:sldIdLst>
    <p:sldId id="5194" r:id="rId42"/>
    <p:sldId id="5195" r:id="rId43"/>
    <p:sldId id="5196" r:id="rId44"/>
    <p:sldId id="5197" r:id="rId45"/>
    <p:sldId id="5198" r:id="rId46"/>
    <p:sldId id="5199" r:id="rId47"/>
    <p:sldId id="5200" r:id="rId48"/>
    <p:sldId id="5201" r:id="rId49"/>
    <p:sldId id="5202" r:id="rId50"/>
    <p:sldId id="5203" r:id="rId51"/>
  </p:sldIdLst>
  <p:sldSz cx="9144000" cy="5143500" type="screen16x9"/>
  <p:notesSz cx="6797675" cy="9928225"/>
  <p:custDataLst>
    <p:tags r:id="rId4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66" userDrawn="1">
          <p15:clr>
            <a:srgbClr val="A4A3A4"/>
          </p15:clr>
        </p15:guide>
        <p15:guide id="2" pos="3605" userDrawn="1">
          <p15:clr>
            <a:srgbClr val="A4A3A4"/>
          </p15:clr>
        </p15:guide>
        <p15:guide id="3" orient="horz" pos="16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Centre" initials="T" lastIdx="5" clrIdx="0"/>
  <p:cmAuthor id="2" name="user" initials="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9BD5"/>
    <a:srgbClr val="002060"/>
    <a:srgbClr val="B9B9B1"/>
    <a:srgbClr val="FFF2CC"/>
    <a:srgbClr val="0000CC"/>
    <a:srgbClr val="020204"/>
    <a:srgbClr val="1F1D20"/>
    <a:srgbClr val="2E2A2B"/>
    <a:srgbClr val="4C9BFE"/>
    <a:srgbClr val="41A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93" autoAdjust="0"/>
    <p:restoredTop sz="93724" autoAdjust="0"/>
  </p:normalViewPr>
  <p:slideViewPr>
    <p:cSldViewPr showGuides="1">
      <p:cViewPr varScale="1">
        <p:scale>
          <a:sx n="72" d="100"/>
          <a:sy n="72" d="100"/>
        </p:scale>
        <p:origin x="76" y="268"/>
      </p:cViewPr>
      <p:guideLst>
        <p:guide pos="3066"/>
        <p:guide pos="3605"/>
        <p:guide orient="horz" pos="166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3283" y="-91"/>
      </p:cViewPr>
      <p:guideLst>
        <p:guide orient="horz" pos="3212"/>
        <p:guide pos="227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1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Relationship Id="rId40" Type="http://schemas.openxmlformats.org/officeDocument/2006/relationships/commentAuthors" Target="commentAuthors.xml"/><Relationship Id="rId41" Type="http://schemas.openxmlformats.org/officeDocument/2006/relationships/tags" Target="tags/tag64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430118F-FB90-49C4-8CCF-A8F8D3F96A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  <a:noFill/>
          <a:ln w="9525">
            <a:noFill/>
          </a:ln>
        </p:spPr>
        <p:txBody>
          <a:bodyPr lIns="91432" tIns="45715" rIns="91432" bIns="45715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开场（30 秒）：各位老师、同学好，今天汇报臭氧微纳米气泡＋紫外协同处理养殖水体课题里的理论计算部分——氨氮去除分子机制的 DFT 模拟阶段汇报。汇报共 10 页：研究背景 → 计算体系与可靠性 → 四阶段计划（①基线、②主攻、③④后续） → 构型与核查进展 → 实验对接 → 后续计划。计算体系与可靠性 → NH₃＋O₃ 接触构型进展 → 候选性质核查 → 实验对接状态 → 后续计划。本汇报只用已登记的计算证据，不含未登记的实验结果。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这一页回答三个问题（大白话）：① 为什么值得做——氨氮对鱼有毒、是水质管理核心指标，工艺上要用"臭氧微纳米气泡＋紫外"联用处理，但它为什么有效、分子层面怎么反应，实验只能看到"去掉了多少"；② 课题定位——在电脑中构建分子级模拟，用 DFT 看清 O₃/UV 产生活性氧、氧化氨氮的第一步，为实验提供机理依据；③ 走到哪了——对照导师批准的四阶段计划逐条过：①臭氧水合基线已建立（水相仍有未验收项）；②目标物反应模型是当前主线（NH₃＋O₃ 气相接触构型）；③反应路径与能垒尚未开展；④UV 激发态与气液界面待实验条件论证后立项。所以项目处于第二阶段早期。四阶段的具体任务，下一页逐条展开。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这一页逐条讲清四个阶段"各自要干什么、为什么要这个阶段"（大白话）：①臭氧水合基线——先把尺子造好：方法和验收标准固定下来，水、臭氧、氧气的结构和能量算准，后面所有反应能都以此为参照（已建立，水相仍有未验收项）；②目标物反应模型（当前阶段）——搞清反应起点：氨氮和臭氧怎么结合、结合多强，目前已获 2 个驻点候选、正在核查稳定性；③反应路径与能垒——算出"走哪条路、哪步最慢、要多大能量"，这直接对应工艺条件（臭氧剂量、紫外功率、处理时间）的选择，等②有结论后启动；④UV 激发态与气液界面——解释紫外增强效果与气泡界面提高利用率的原因，要结合实验条件论证后立项，不用基态小分子结果硬套。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本页讲②③④三个阶段的任务与安排（大白话）：②目标物反应模型是当前主攻——让氨氮和臭氧找到稳定接触方式，已有 2 个驻点候选、稳定性核查中；③反应路径与能垒——等②出结论就做 TS/频率/IRC，能垒直接回答反应容易不容易发生；④UV 激发态与气液界面——解释紫外增效与气泡界面强化，须结合实验条件论证后立项。三个阶段都以第 3 页基线数据为参照，逐级递进。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本页讲③④两个阶段的任务与安排（大白话）：③反应路径与能垒——等②出结论就做 TS/频率/IRC，能垒直接回答反应容易不容易发生；④UV 激发态与气液界面——解释紫外增效与气泡界面强化，须结合实验条件论证后立项。③④的产出都以②的可用结论和实验条件输入为前提，逐级递进。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先讲方法（大白话）：化学计算的引擎是国际开源量子化学软件 PySCF 2.14.0——量子化学领域的主流开源程序，正确性由开源社区和大量文献背书；积分库是 libxc，水相溶剂化用 PySCF 内置的 SMD 模型（Minnesota 溶剂库），也都是开源成熟实现。服务里另部署了 Gaussian 16W（商业"金标准"）作为今后的交叉验证参照，本项目已登记计算均由 PySCF 完成。方法统一用 wB97X-D 加项目独立实现的 D2 色散、def2-TZVP 基组、L8 网格、SCF 收敛到 1e-12/1e-9，每个求值点的解析完整梯度都落盘保存，驻点验收门限是未经投影 max|g| ≤ 1e-5 Eh/Bohr。右表是第一阶段验收的单体基线：H₂O、O₃、O₂ 气相和 SMD 水相全部 0 虚频；H₂O SMD 水梯度 1.28×10⁻⁵ 略高于门限，单体以频率结果验收登记。NH₃ 气相单体 JOB-026 完成结构、独立梯度、内部电子稳定性和频率检查，与 O₃ 单体之和 −281.998122 Eh 就是接触构型能量零点（好比"称重前先把秤校准"）。可靠性机制是计算可靠性工作，不算机理成果；方法口径是项目对照方法，不宣称复现 S13 的 B3LYP/CCSD(T) 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这一页讲第二阶段主线的推进（大白话：先看这两个分子"合不合得来"）。左图是 JOB-031 固定取向的距离扫描：非 CP 相互作用能全为正，说明这个姿势是"顶着的"，合不拢，必须让分子自由转动寻找姿势。全自由度优化找到低于分离单体约 2.26 kcal/mol 的接触构型，但三个限定：未经 CP 校正、含片段变形、不是结合自由能。JOB-051 续算首次得到过梯度门限的几何并经独立复核，登记首个驻点候选；JOB-057 仅 5 步优化得到第二个候选，能量更低。边界声明要念：候选不等于稳定复合物，更不涉及水处理效果。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这一页最核心也最谨慎（大白话：给候选结构做"体检"）。052：电子内部稳定性通过，但合成 Hessian 在 051 候选几何预测 −72.83 cm⁻¹ 内部负模（有个方向是"下坡"的）。053 沿该方向双步长独立差分 kE、kg 全为负，负曲率符号是真的，但量级与解析矩阵差约 2.8 倍（045/046 遗留，未解决）。左图是 055/056 固定方向扫描：方向导数在 0.045–0.050 Bohr 变号，插值零点约 0.0484，但直线低点横向梯度大，不等于全自由度极小值。058 对第二候选同样预测 −47.27 cm⁻¹ 负模；059 双步长独立核查五条路线全负、互差 ≤0.76%。登记结论：两个候选电子稳定性通过、振动曲率未通过，均不登记极小值；TS、IRC、能垒都还没有。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实验线的真实状态要如实讲（大白话：计算是"军师"，实验是"主力"，军师先把作战图准备好）。已登记的只有三件事：目标污染物方向确定为养殖水体氨氮、需要向实验端确认的参数清单、建议对照组和检测指标框架。正式养殖实验执行数据在项目记录里没有；水体类型、pH、温度、氨氮浓度、UV 波长功率、臭氧剂量、微纳米气泡条件、产物检测都还没确认，汇报口径统一为：方案框架已提出、具体条件待确认、正式实验尚未登记。右侧是建议的第一轮小规模摸底：六组对照把臭氧、紫外、微纳米气泡三个因素的单独和联合作用拆开；必测氨氮、亚硝酸盐、硝酸盐、pH、温度、溶解臭氧并做时间序列；EPR/ROS 作为可选佐证。第一步不做活鱼和病毒试验，先做合成水或已有养殖水样的可控验证。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/>
          </p:nvPr>
        </p:nvSpPr>
        <p:spPr/>
        <p:txBody>
          <a:bodyPr/>
          <a:lstStyle/>
          <a:p>
            <a:r>
              <a:t>收尾讲两条线的后续（大白话：电脑和实验两条腿走路，谁也不等谁）。计算线：按 059 总指挥审阅，下一步对 0.045–0.050 Bohr 变号区间转受限松弛，不再重复全 Hessian；之后核查两个候选的负模是否同一软坐标、是否同一势盆；形成可用结论后再选首条优先反应路径做 TS、频率、IRC；水相、UV 激发态和气液界面结合实验条件论证后另行立项。实验线：先收集关键条件，条件一确定就开始六组对照摸底；然后建立氨氮去除和产物时间序列，与 DFT 对照讨论。判断标准：DFT 可复核步骤 + 实验时间序列 + 完整对照三者齐备，才能说机制被实验支持。三句话收尾：基线就绪、候选核查中、尚无极小值能垒；负曲率独立支持但量级差异未解决；实验先摸底、正式实验未登记。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fade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9" y="681038"/>
            <a:ext cx="7596187" cy="6488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1600200"/>
            <a:ext cx="8064500" cy="27003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D8679-5F5E-4B7C-802D-C7BC6D9EA8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 lIns="68580" tIns="34290" rIns="68580" bIns="3429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7086632" y="4767268"/>
            <a:ext cx="2057400" cy="273844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E00D155-3BB6-43CF-9AC4-BC63A66E74A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61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60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5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8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57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56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5" name="图片"/>
          <p:cNvPicPr>
            <a:picLocks noChangeAspect="1"/>
          </p:cNvPicPr>
          <p:nvPr/>
        </p:nvPicPr>
        <p:blipFill>
          <a:blip r:embed="rId4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4" name="图片"/>
          <p:cNvPicPr>
            <a:picLocks noChangeAspect="1"/>
          </p:cNvPicPr>
          <p:nvPr/>
        </p:nvPicPr>
        <p:blipFill>
          <a:blip r:embed="rId5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2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49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582"/>
            <a:ext cx="7886700" cy="1862336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250"/>
            <a:ext cx="4286250" cy="1036838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799901"/>
            <a:ext cx="4286250" cy="88945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255"/>
            <a:ext cx="3511241" cy="1071121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255"/>
            <a:ext cx="4283912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405"/>
            <a:ext cx="3511241" cy="28586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44"/>
            <a:ext cx="681676" cy="4358879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7084832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8C2575A-209A-4077-BDB9-E87416901E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1DD5CB2-2BE0-4481-86DD-C043327AC72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624D8FF-74E7-4921-9CAE-4FFEFA02D8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F55FC455-35D6-4DA4-A437-CA85BC054C4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8244F59-D6B6-414B-BB66-C248F668D1E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723C5AC-E4BE-40C3-A2A2-77E8E12E66D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D0B67FDA-6E83-4134-875B-73AE362A8BA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F6FF0AD-7F40-439F-89AC-93E13C039AF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1E1C9F3-C561-4B1A-BD83-6A9F21FC9D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DB73528-A49F-47D6-A472-972E1FC21CA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fld id="{1BAD805B-FB8F-44B2-A44D-F7D899623CBA}" type="datetime1">
              <a:rPr lang="zh-CN" altLang="en-US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19" Type="http://schemas.openxmlformats.org/officeDocument/2006/relationships/image" Target="../media/image2.jpeg"/><Relationship Id="rId20" Type="http://schemas.openxmlformats.org/officeDocument/2006/relationships/image" Target="../media/image3.png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9.jpeg"/><Relationship Id="rId17" Type="http://schemas.openxmlformats.org/officeDocument/2006/relationships/image" Target="../media/image10.jpeg"/><Relationship Id="rId18" Type="http://schemas.openxmlformats.org/officeDocument/2006/relationships/image" Target="../media/image3.png"/><Relationship Id="rId1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2.xml"/><Relationship Id="rId12" Type="http://schemas.openxmlformats.org/officeDocument/2006/relationships/tags" Target="../tags/tag1.xml"/><Relationship Id="rId13" Type="http://schemas.openxmlformats.org/officeDocument/2006/relationships/tags" Target="../tags/tag2.xml"/><Relationship Id="rId14" Type="http://schemas.openxmlformats.org/officeDocument/2006/relationships/tags" Target="../tags/tag3.xml"/><Relationship Id="rId15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8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8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9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0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11" name="文本框"/>
          <p:cNvSpPr>
            <a:spLocks noGrp="1"/>
          </p:cNvSpPr>
          <p:nvPr>
            <p:ph type="sldNum" idx="4"/>
          </p:nvPr>
        </p:nvSpPr>
        <p:spPr>
          <a:xfrm>
            <a:off x="6457950" y="4767268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7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7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2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13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4" name="图片"/>
          <p:cNvPicPr>
            <a:picLocks noChangeAspect="1"/>
          </p:cNvPicPr>
          <p:nvPr/>
        </p:nvPicPr>
        <p:blipFill>
          <a:blip r:embed="rId16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5" name="图片"/>
          <p:cNvPicPr>
            <a:picLocks noChangeAspect="1"/>
          </p:cNvPicPr>
          <p:nvPr/>
        </p:nvPicPr>
        <p:blipFill>
          <a:blip r:embed="rId17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6" name="图片"/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sldNum="0" hdr="0" ftr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3" Type="http://schemas.openxmlformats.org/officeDocument/2006/relationships/tags" Target="../tags/tag42.xml"/><Relationship Id="rId4" Type="http://schemas.openxmlformats.org/officeDocument/2006/relationships/tags" Target="../tags/tag41.xml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3" Type="http://schemas.openxmlformats.org/officeDocument/2006/relationships/tags" Target="../tags/tag42.xml"/><Relationship Id="rId4" Type="http://schemas.openxmlformats.org/officeDocument/2006/relationships/tags" Target="../tags/tag41.xml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3" Type="http://schemas.openxmlformats.org/officeDocument/2006/relationships/tags" Target="../tags/tag42.xml"/><Relationship Id="rId4" Type="http://schemas.openxmlformats.org/officeDocument/2006/relationships/tags" Target="../tags/tag41.xml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1910" y="1085215"/>
            <a:ext cx="8856980" cy="135826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ts val="450"/>
              </a:spcBef>
              <a:spcAft>
                <a:spcPts val="1000"/>
              </a:spcAft>
              <a:defRPr/>
            </a:pPr>
            <a:r>
              <a:rPr sz="2800" b="1">
                <a:solidFill>
                  <a:srgbClr val="000066"/>
                </a:solidFill>
                <a:latin typeface="Times New Roman"/>
                <a:ea typeface="微软雅黑"/>
              </a:rPr>
              <a:t>臭氧微纳米气泡/UV协同处理养殖水体：</a:t>
            </a:r>
            <a:endParaRPr lang="zh-CN" altLang="en-US" sz="3200" b="1" noProof="1">
              <a:solidFill>
                <a:srgbClr val="00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>
              <a:spcAft>
                <a:spcPts val="400"/>
              </a:spcAft>
            </a:pPr>
            <a:r>
              <a:rPr sz="2800" b="1">
                <a:solidFill>
                  <a:srgbClr val="000066"/>
                </a:solidFill>
                <a:latin typeface="Times New Roman"/>
                <a:ea typeface="微软雅黑"/>
              </a:rPr>
              <a:t>氨氮去除分子机制的DFT模拟阶段汇报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7974"/>
            <a:ext cx="9144000" cy="55552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9752" y="2443763"/>
            <a:ext cx="4248472" cy="176814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微软雅黑"/>
              </a:rPr>
              <a:t>杜同贺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  <a:ea typeface="微软雅黑"/>
              </a:rPr>
              <a:t>天津大学 环境学院</a:t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  <a:ea typeface="微软雅黑"/>
              </a:rPr>
              <a:t>2026年9月10日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研究背景与总体路线：为什么做分子模拟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1051560"/>
            <a:ext cx="8503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背景：养殖水体氨氮超标，对鱼有毒性，也是水产养殖水质管理的核心指标之一。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工艺思路：以臭氧微纳米气泡与紫外联用的方式去除氨氮。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关键问题：它为什么有效？臭氧和氨氮到底是怎么反应的？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实验的局限：只能测得去除率，难以直接观测分子层面的反应过程。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4320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研究目标链条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08960"/>
            <a:ext cx="1691640" cy="5029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O₃ / UV 活化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" y="3108960"/>
            <a:ext cx="1463040" cy="5029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活性氧 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86784" y="3108960"/>
            <a:ext cx="1874519" cy="5029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NH₃ / NH₄⁺ 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16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3108960"/>
            <a:ext cx="2651760" cy="5029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NH₂OH · NO₂⁻ · NO₃⁻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767328"/>
            <a:ext cx="8503920" cy="566928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50" b="1">
                <a:solidFill>
                  <a:srgbClr val="002060"/>
                </a:solidFill>
                <a:latin typeface="Times New Roman"/>
                <a:ea typeface="微软雅黑"/>
              </a:rPr>
              <a:t>臭氧溶入水体并经紫外分解产生活性氧 → ·OH 等强氧化性物种将氨氮逐步氧化 → 依次生成 NH₂OH、NO₂⁻、NO₃⁻，可由水质检测直接监测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43984"/>
            <a:ext cx="8503920" cy="548640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实验测得处理效果，分子模拟解释背后机理——说明臭氧与氨氮在分子层面如何反应，为工艺优化提供依据。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计算体系与可靠性基础：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39776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Times New Roman"/>
                <a:ea typeface="微软雅黑"/>
              </a:rPr>
              <a:t>对照计算方法（已多轮核验）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335024"/>
            <a:ext cx="397763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计算引擎：开源量子化学软件 PySCF 2.14.0（libxc 积分库）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溶剂化模型：SMD 水相（PySCF 内置 Minnesota 溶剂库）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泛函：wB97X-D + D2 色散校正（按原始文献参数实现，并经数值验证）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基组 / 网格：def2-TZVP ｜ L8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SCF 收敛：能量 1×10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-12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｜ 密度 1×10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-9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梯度：解析完整梯度，逐求值落盘保存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驻点验收门限：max|g| ≤ 1×10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-5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Eh/Bohr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交叉验证储备：Gaussian 16W（商业金标准，已部署）——本项目登记计算均由 PySCF 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462272"/>
            <a:ext cx="8549640" cy="603504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这一步相当于在电脑中搭建计算实验室：先把水、臭氧、氧气等小分子的结构与能量核算准确，后续反应研究才能建立在可靠基础之上。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四阶段计划（1/3）：① 臭氧水合基线——单体基线数据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① 臭氧水合基线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　已建立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389888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固定计算方法与验收标准，算准 H₂O、O₃、O₂ 在气相和 SMD 水相的结构、能量与频率。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为后续所有反应计算提供参照点与统一方法口径。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成果：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已完成 6 套单体基线计算，结构、能量与频率全部验收（0 虚频，即结构稳定）。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005840"/>
            <a:ext cx="4782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6 套单体基线数据（JOB-001~006）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06240" y="1371600"/>
          <a:ext cx="478231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960120"/>
                <a:gridCol w="1234440"/>
                <a:gridCol w="1444752"/>
                <a:gridCol w="4572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单体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相/溶剂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E_total (Eh)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频率 (cm⁻¹)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虚频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H₂O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气相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−76.437668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1619.6/3875.8/3985.1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H₂O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SMD 水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−76.450895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1595.0/3848.1/3930.8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O₃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气相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−225.433903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784.6/1329.1/1340.3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O₃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SMD 水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−225.439360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786.2/1267.8/1348.3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O₂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气相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−150.340070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1715.8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O₂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SMD 水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−150.340720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1717.7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marL="27432" marR="27432" marT="9144" marB="9144"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0040" y="379476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说明：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H₂O（SMD 水）梯度略高于 1×10⁻⁵ 门限，单体统一以 0 虚频频率结果登记验收；水相驻点、热化学为遗留未验收项。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这些能量就是后续反应能的参照零点——尺子造准了，后面的数才可信。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四阶段计划（2/3）：② 目标物反应模型——当前主攻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8503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Times New Roman"/>
                <a:ea typeface="微软雅黑"/>
              </a:rPr>
              <a:t>当前主攻：② 目标物反应模型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研究氨氮与 O₃、活性氧的复合物/中间体——当前是 NH₃ 与 O₃ 的稳定接触构型。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搞清反应起点：两个分子如何结合、结合强度多大。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286000"/>
            <a:ext cx="8503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已完成：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NH₃/O₃ 单体验收（JOB-026）；C1 取向扫描（JOB-031）；两轮全自由度优化（JOB-048/050/054）。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已获 2 个驻点候选：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JOB-051（8.203×10⁻⁶）与 JOB-057（6.847×10⁻⁶），均过梯度门限并独立复核。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仍在攻坚：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稳定性检验还没通过——详见下一页性质核查。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566160"/>
            <a:ext cx="8503920" cy="685800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00" b="1">
                <a:solidFill>
                  <a:srgbClr val="C00000"/>
                </a:solidFill>
                <a:latin typeface="Times New Roman"/>
                <a:ea typeface="微软雅黑"/>
              </a:rPr>
              <a:t>为什么是主攻：</a:t>
            </a: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接触构型是能垒计算的初态——起点找不准，后面的能垒都无从谈起。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443984"/>
            <a:ext cx="8503920" cy="548640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② 是当前主攻——把反应起点找稳，后面的路径与能垒才有意义；③④的任务安排见下一页。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0" y="207466"/>
            <a:ext cx="9144000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21920" y="483235"/>
            <a:ext cx="6318250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285750" indent="-285750" algn="just">
              <a:lnSpc>
                <a:spcPct val="135000"/>
              </a:lnSpc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5pPr>
            <a:lvl6pPr marL="25146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6pPr>
            <a:lvl7pPr marL="29718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7pPr>
            <a:lvl8pPr marL="34290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8pPr>
            <a:lvl9pPr marL="38862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NH₃···O₃气相接触构型：从距离扫描到驻点候选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2" name="Picture 11" descr="energy_radial_gradi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005840"/>
            <a:ext cx="5212080" cy="24167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3477478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JOB-031 固定单体几何 C1 取向扫描（气相）：非 CP 相互作用能在 2.6–4.2 Å 全为正（+0.4 ~ +11 kcal/mol）——该取向排斥主导，吸引构型需全自由度优化。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969264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Times New Roman"/>
                <a:ea typeface="微软雅黑"/>
              </a:rPr>
              <a:t>2 个驻点候选 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· 0 个已验收极小值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417320"/>
            <a:ext cx="3200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① 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全自由度优化找到低于分离单体约 2.26 kcal/mol 的接触构型；未经 CP 校正、含片段变形——不是结合自由能。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② 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JOB-051 首个驻点候选：max|g| = 8.203×10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-6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，独立复核 PASS。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③ 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JOB-057 第二候选：max|g| = 6.847×10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-6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，复核 PASS，能量更低。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C00000"/>
                </a:solidFill>
                <a:latin typeface="Times New Roman"/>
                <a:ea typeface="微软雅黑"/>
              </a:rPr>
              <a:t>★ 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边界：驻点候选仅为过门限并经复核的几何，不代表稳定复合物，更不涉及结合自由能。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462272"/>
            <a:ext cx="8869680" cy="603504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让一个氨氮分子与一个臭氧分子在电脑中逐渐靠近，考察二者能否形成稳定结合。目前已获得两种候选结合方式，但尚未证明其为能够稳定存在的结构。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0" y="207466"/>
            <a:ext cx="9144000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21920" y="483235"/>
            <a:ext cx="6318250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285750" indent="-285750" algn="just">
              <a:lnSpc>
                <a:spcPct val="135000"/>
              </a:lnSpc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5pPr>
            <a:lvl6pPr marL="25146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6pPr>
            <a:lvl7pPr marL="29718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7pPr>
            <a:lvl8pPr marL="34290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8pPr>
            <a:lvl9pPr marL="38862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驻点候选性质核查：软模负曲率的独立验证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2" name="Picture 11" descr="scan055_056_sl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005840"/>
            <a:ext cx="3749039" cy="2543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3594594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固定方向 q 直线扫描（055 中心+4 点，056 细化 3 点）：方向导数 a(t)=g·q 在 0.045–0.050 Bohr 变号；直线低点 ≠ 全自由度极小值。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005840"/>
            <a:ext cx="4434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052：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@ 051 候选：电子稳定性 True；合成 Hessian 预测负模 −72.83 cm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-1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053：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双步长差分全为负 → 负曲率获独立支持；与解析矩阵量级差 ~2.8 倍（未解决）。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058：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@ 057 候选：42 位移 FD Hessian 亦预测负模 −47.27 cm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-1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（单步长）。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059：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双步长核查：五条路线全为负、互差 ≤ 0.76% → 独立支持。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C00000"/>
                </a:solidFill>
                <a:latin typeface="Times New Roman"/>
                <a:ea typeface="微软雅黑"/>
              </a:rPr>
              <a:t>登记：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两候选电子稳定性均 True、振动曲率均未通过 → 均不登记极小值；尚无 TS、IRC、能垒。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462272"/>
            <a:ext cx="8869680" cy="603504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候选结构需通过振动测试：真正稳定的结构受轻微扰动后会回到原位；这两个候选受扰后沿同一方向偏移，说明尚不稳定——该判断已用两种独立方法交叉确认。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四阶段计划（3/3）：③ 反应路径与能垒 · ④ UV 激发态·气液界面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③ 反应路径与能垒　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444752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任务：对优先反应路径做过渡态（TS）、频率与 IRC 验证，算出反应能和能垒。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目的：回答反应走哪条路、哪一步最慢、需要多大能量——直接对应工艺条件选择。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解读：能垒直接回答反应容易不容易发生，是工艺参数选择的理论依据。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0515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④ UV 激发态·气液界面　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444752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任务：研究 UV 激发态（TD-DFT/光化学）与气液界面（微纳米气泡表面）的分子模型。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目的：解释紫外增强效果与气泡界面提高利用率的原因——对应两个工艺问题。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解读：须结合实验条件论证后立项，不用基态小分子结果硬套。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443984"/>
            <a:ext cx="8503920" cy="502920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③④的产出都要以②的可用结论和实验条件输入为前提——逐级递进，不盲目抢跑。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实验准备的真实状态：框架已有，执行未登记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Times New Roman"/>
                <a:ea typeface="微软雅黑"/>
              </a:rPr>
              <a:t>已登记（计算侧整理）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目标污染物方向：养殖水体氨氮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需向实验端确认的参数清单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建议对照组与检测指标框架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Times New Roman"/>
                <a:ea typeface="微软雅黑"/>
              </a:rPr>
              <a:t>尚未登记 / 尚未确认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正式养殖实验执行数据（项目记录中无）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水体组成 · pH · 温度 · 氨氮浓度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UV 波长/功率 · 臭氧剂量 · MNB 条件 · 产物检测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96926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Times New Roman"/>
                <a:ea typeface="微软雅黑"/>
              </a:rPr>
              <a:t>建议第一轮：小规模水样摸底（6 组对照）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335024"/>
            <a:ext cx="1325880" cy="42062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空白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335024"/>
            <a:ext cx="1325880" cy="42062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O₃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335024"/>
            <a:ext cx="1325880" cy="42062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UV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1883664"/>
            <a:ext cx="1325880" cy="42062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O₃+UV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883664"/>
            <a:ext cx="1325880" cy="42062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O₃-MNB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883664"/>
            <a:ext cx="1325880" cy="42062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微软雅黑"/>
              </a:rPr>
              <a:t>O₃-MNB+UV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487168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必测指标：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NH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4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+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/NH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3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· 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2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· 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3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· pH · 温度 · 溶解臭氧（含时间序列）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可选证据：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EPR / ROS 间接证据 · 过氧化物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第一步不做活鱼/病毒试验，先做合成水或已有养殖水样的可控验证。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858768"/>
            <a:ext cx="854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Times New Roman"/>
                <a:ea typeface="微软雅黑"/>
              </a:rPr>
              <a:t>汇报统一表述：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实验方案框架已提出，具体条件待确认，正式实验尚未在本项目记录中登记。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8549640" cy="603504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计算侧已完成实验方案的初步设计；但水样成分、pH、紫外功率、臭氧剂量等关键条件尚未确定，正式实验尚未启动——条件与对照组确定后即可开展。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0" y="207466"/>
            <a:ext cx="9144000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21920" y="483235"/>
            <a:ext cx="6318250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285750" indent="-285750" algn="just">
              <a:lnSpc>
                <a:spcPct val="135000"/>
              </a:lnSpc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5pPr>
            <a:lvl6pPr marL="25146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6pPr>
            <a:lvl7pPr marL="29718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7pPr>
            <a:lvl8pPr marL="34290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8pPr>
            <a:lvl9pPr marL="38862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等线" panose="02010600030101010101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后续计划：计算 — 实验双线并行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93268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Times New Roman"/>
                <a:ea typeface="微软雅黑"/>
              </a:rPr>
              <a:t>计算线（DFT）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280160"/>
            <a:ext cx="4114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① 细化 0.045–0.050 Bohr 变号区间：按 059 审阅路线转受限松弛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② 核查两候选负模关系 / 是否同一势盆（不自动跟随）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③ 形成可用结论后选首条优先反应路径：TS · 频率 · IRC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④ 水相扩展、UV 激发态、气液界面 —— 结合实验条件论证后立项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93268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Times New Roman"/>
                <a:ea typeface="微软雅黑"/>
              </a:rPr>
              <a:t>实验线（水样摸底）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280160"/>
            <a:ext cx="4114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① 向实验端收集水体、pH、UV、臭氧等关键条件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② 条件确定即开始 6 组对照小规模摸底（不必等 DFT 完成）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③ 建立氨氮去除 + 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2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/NO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3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产物时间序列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④ 与 DFT 机制结论对照讨论，互相约束边界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83280"/>
            <a:ext cx="854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Times New Roman"/>
                <a:ea typeface="微软雅黑"/>
              </a:rPr>
              <a:t>“机制被实验支持”至少需要：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DFT 可复核的关键反应步骤 ｜ 氨氮去除与 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2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/NO</a:t>
            </a:r>
            <a:r>
              <a:rPr sz="1200" b="1" baseline="-25000">
                <a:solidFill>
                  <a:srgbClr val="000000"/>
                </a:solidFill>
                <a:latin typeface="Times New Roman"/>
                <a:ea typeface="微软雅黑"/>
              </a:rPr>
              <a:t>3</a:t>
            </a:r>
            <a:r>
              <a:rPr sz="1200" b="1" baseline="30000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 时间序列 ｜ O₃、UV、MNB 及 ROS 对照。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822191"/>
            <a:ext cx="8549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1. 平台与单体基线已就绪；NH₃+O₃ 推进到“驻点候选性质核查”，尚无已验收极小值与能垒。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2. 软模负曲率获独立差分支持，但解析与差分量级差异未解决 —— 结论保持受限的气相模型结论。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3. 实验可先做小规模可控水样摸底；正式养殖实验尚未登记，汇报中不写“已完成”。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572000"/>
            <a:ext cx="8549640" cy="457200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计算继续明确反应路径与能垒，实验尽早以真实水样开展验证；二者互相校准，方可可靠确立反应机理。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PP_MARK_KEY" val="673a0a08-aba2-4146-b58e-bc5c92cf35e5"/>
  <p:tag name="COMMONDATA" val="eyJoZGlkIjoiM2VlNDEyYzZiZWE4M2QwODAyMGZhMzYxMDNhZjgxYmUifQ=="/>
</p:tagLst>
</file>

<file path=ppt/theme/theme1.xml><?xml version="1.0" encoding="utf-8"?>
<a:theme xmlns:a="http://schemas.openxmlformats.org/drawingml/2006/main" name="1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3_自定义设计方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_自定义设计方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3_自定义设计方案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WPS 演示</Application>
  <PresentationFormat>全屏显示(16:9)</PresentationFormat>
  <Paragraphs>183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25</vt:i4>
      </vt:variant>
    </vt:vector>
  </HeadingPairs>
  <TitlesOfParts>
    <vt:vector size="50" baseType="lpstr">
      <vt:lpstr>Arial</vt:lpstr>
      <vt:lpstr>宋体</vt:lpstr>
      <vt:lpstr>Wingdings</vt:lpstr>
      <vt:lpstr>Calibri Light</vt:lpstr>
      <vt:lpstr>Calibri</vt:lpstr>
      <vt:lpstr>微软雅黑</vt:lpstr>
      <vt:lpstr>Times New Roman</vt:lpstr>
      <vt:lpstr>Calibri</vt:lpstr>
      <vt:lpstr>等线</vt:lpstr>
      <vt:lpstr>华文细黑</vt:lpstr>
      <vt:lpstr>黑体</vt:lpstr>
      <vt:lpstr>Wingdings</vt:lpstr>
      <vt:lpstr>Arial Unicode MS</vt:lpstr>
      <vt:lpstr>BatangChe</vt:lpstr>
      <vt:lpstr>FFont-Family</vt:lpstr>
      <vt:lpstr>华文细黑</vt:lpstr>
      <vt:lpstr>MS PGothic</vt:lpstr>
      <vt:lpstr>1_Office 主题​​</vt:lpstr>
      <vt:lpstr>3_Office 主题​​</vt:lpstr>
      <vt:lpstr>2_Office 主题​​</vt:lpstr>
      <vt:lpstr>6_Office 主题​​</vt:lpstr>
      <vt:lpstr>4_自定义设计方案</vt:lpstr>
      <vt:lpstr>4_Office 主题​​</vt:lpstr>
      <vt:lpstr>4_Office 主题</vt:lpstr>
      <vt:lpstr>10_Office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人心难测</cp:lastModifiedBy>
  <cp:revision>2909</cp:revision>
  <cp:lastPrinted>2025-04-28T09:50:00Z</cp:lastPrinted>
  <dcterms:created xsi:type="dcterms:W3CDTF">2025-04-28T09:50:00Z</dcterms:created>
  <dcterms:modified xsi:type="dcterms:W3CDTF">2026-06-18T09:49:25Z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RubyTemplateID">
    <vt:lpwstr>2</vt:lpwstr>
  </property>
  <property fmtid="{D5CDD505-2E9C-101B-9397-08002B2CF9AE}" pid="4" name="ICV">
    <vt:lpwstr>63078995DEAF4DA4B1240E332C0B10DC_13</vt:lpwstr>
  </property>
</Properties>
</file>