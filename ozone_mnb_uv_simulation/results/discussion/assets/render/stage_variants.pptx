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6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  <p:sldMasterId id="2147483682" r:id="rId4"/>
    <p:sldMasterId id="2147483700" r:id="rId5"/>
    <p:sldMasterId id="2147483717" r:id="rId6"/>
    <p:sldMasterId id="2147483731" r:id="rId7"/>
    <p:sldMasterId id="2147483745" r:id="rId8"/>
    <p:sldMasterId id="2147483757" r:id="rId9"/>
  </p:sldMasterIdLst>
  <p:notesMasterIdLst>
    <p:notesMasterId r:id="rId11"/>
  </p:notesMasterIdLst>
  <p:handoutMasterIdLst>
    <p:handoutMasterId r:id="rId36"/>
  </p:handoutMasterIdLst>
  <p:sldIdLst>
    <p:sldId id="5194" r:id="rId42"/>
    <p:sldId id="5195" r:id="rId43"/>
    <p:sldId id="5196" r:id="rId44"/>
  </p:sldIdLst>
  <p:sldSz cx="9144000" cy="5143500" type="screen16x9"/>
  <p:notesSz cx="6797675" cy="9928225"/>
  <p:custDataLst>
    <p:tags r:id="rId4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66" userDrawn="1">
          <p15:clr>
            <a:srgbClr val="A4A3A4"/>
          </p15:clr>
        </p15:guide>
        <p15:guide id="2" pos="3605" userDrawn="1">
          <p15:clr>
            <a:srgbClr val="A4A3A4"/>
          </p15:clr>
        </p15:guide>
        <p15:guide id="3" orient="horz" pos="16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nkCentre" initials="T" lastIdx="5" clrIdx="0"/>
  <p:cmAuthor id="2" name="user" initials="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B9BD5"/>
    <a:srgbClr val="002060"/>
    <a:srgbClr val="B9B9B1"/>
    <a:srgbClr val="FFF2CC"/>
    <a:srgbClr val="0000CC"/>
    <a:srgbClr val="020204"/>
    <a:srgbClr val="1F1D20"/>
    <a:srgbClr val="2E2A2B"/>
    <a:srgbClr val="4C9BFE"/>
    <a:srgbClr val="41A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93" autoAdjust="0"/>
    <p:restoredTop sz="93724" autoAdjust="0"/>
  </p:normalViewPr>
  <p:slideViewPr>
    <p:cSldViewPr showGuides="1">
      <p:cViewPr varScale="1">
        <p:scale>
          <a:sx n="72" d="100"/>
          <a:sy n="72" d="100"/>
        </p:scale>
        <p:origin x="76" y="268"/>
      </p:cViewPr>
      <p:guideLst>
        <p:guide pos="3066"/>
        <p:guide pos="3605"/>
        <p:guide orient="horz" pos="166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3283" y="-91"/>
      </p:cViewPr>
      <p:guideLst>
        <p:guide orient="horz" pos="3212"/>
        <p:guide pos="227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1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ableStyles" Target="tableStyles.xml"/><Relationship Id="rId40" Type="http://schemas.openxmlformats.org/officeDocument/2006/relationships/commentAuthors" Target="commentAuthors.xml"/><Relationship Id="rId41" Type="http://schemas.openxmlformats.org/officeDocument/2006/relationships/tags" Target="tags/tag64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3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3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B430118F-FB90-49C4-8CCF-A8F8D3F96A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  <a:noFill/>
          <a:ln w="9525">
            <a:noFill/>
          </a:ln>
        </p:spPr>
        <p:txBody>
          <a:bodyPr lIns="91432" tIns="45715" rIns="91432" bIns="45715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9430090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5" y="9430090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e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9.jpeg"/><Relationship Id="rId5" Type="http://schemas.openxmlformats.org/officeDocument/2006/relationships/image" Target="../media/image10.jpe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  <a:prstGeom prst="rect">
            <a:avLst/>
          </a:prstGeom>
        </p:spPr>
        <p:txBody>
          <a:bodyPr lIns="68580" tIns="34290" rIns="68580" bIns="3429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l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6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5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3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2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91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9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89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Footer &amp;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fade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9" y="681038"/>
            <a:ext cx="7596187" cy="64889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23850" y="1600200"/>
            <a:ext cx="8064500" cy="270033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D8679-5F5E-4B7C-802D-C7BC6D9EA8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8" y="6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4713689"/>
            <a:ext cx="9144000" cy="1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ppt2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94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内容占位符 2"/>
          <p:cNvSpPr>
            <a:spLocks noGrp="1"/>
          </p:cNvSpPr>
          <p:nvPr>
            <p:ph idx="13"/>
          </p:nvPr>
        </p:nvSpPr>
        <p:spPr>
          <a:xfrm>
            <a:off x="357160" y="1157296"/>
            <a:ext cx="8064500" cy="2700338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6553200" y="4817273"/>
            <a:ext cx="2133600" cy="273844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5790EB89-D834-4F60-B25E-8A0EE23596D8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5"/>
          </p:nvPr>
        </p:nvSpPr>
        <p:spPr>
          <a:xfrm>
            <a:off x="457200" y="4786312"/>
            <a:ext cx="2133600" cy="357188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6"/>
          </p:nvPr>
        </p:nvSpPr>
        <p:spPr>
          <a:xfrm>
            <a:off x="3124200" y="4786312"/>
            <a:ext cx="2895600" cy="35718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7" y="5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rtl="0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7A3075A-DB2B-49B4-A2B7-154D1AA8959B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rtl="0">
              <a:defRPr/>
            </a:pPr>
            <a:endParaRPr lang="zh-CN" altLang="en-US" sz="1800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005DD-E773-4F5A-9340-A864BD63329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8" y="6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4713689"/>
            <a:ext cx="9144000" cy="1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ppt2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94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内容占位符 2"/>
          <p:cNvSpPr>
            <a:spLocks noGrp="1"/>
          </p:cNvSpPr>
          <p:nvPr>
            <p:ph idx="13"/>
          </p:nvPr>
        </p:nvSpPr>
        <p:spPr>
          <a:xfrm>
            <a:off x="357160" y="1157296"/>
            <a:ext cx="8064500" cy="2700338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6553200" y="4817273"/>
            <a:ext cx="2133600" cy="273844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5790EB89-D834-4F60-B25E-8A0EE23596D8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5"/>
          </p:nvPr>
        </p:nvSpPr>
        <p:spPr>
          <a:xfrm>
            <a:off x="457200" y="4786312"/>
            <a:ext cx="2133600" cy="357188"/>
          </a:xfrm>
          <a:prstGeom prst="rect">
            <a:avLst/>
          </a:prstGeom>
        </p:spPr>
        <p:txBody>
          <a:bodyPr lIns="68580" tIns="34290" rIns="68580" bIns="3429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6"/>
          </p:nvPr>
        </p:nvSpPr>
        <p:spPr>
          <a:xfrm>
            <a:off x="3124200" y="4786312"/>
            <a:ext cx="2895600" cy="35718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7" y="5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rtl="0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fld id="{07A3075A-DB2B-49B4-A2B7-154D1AA8959B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rtl="0">
              <a:defRPr/>
            </a:pPr>
            <a:endParaRPr lang="zh-CN" altLang="en-US" sz="1800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pPr>
              <a:defRPr/>
            </a:pPr>
            <a:fld id="{FB5005DD-E773-4F5A-9340-A864BD63329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l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8" y="6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4713689"/>
            <a:ext cx="9144000" cy="1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ppt2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94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内容占位符 2"/>
          <p:cNvSpPr>
            <a:spLocks noGrp="1"/>
          </p:cNvSpPr>
          <p:nvPr>
            <p:ph idx="13"/>
          </p:nvPr>
        </p:nvSpPr>
        <p:spPr>
          <a:xfrm>
            <a:off x="357160" y="1157296"/>
            <a:ext cx="8064500" cy="2700338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6553200" y="4817273"/>
            <a:ext cx="2133600" cy="273844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5790EB89-D834-4F60-B25E-8A0EE23596D8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5"/>
          </p:nvPr>
        </p:nvSpPr>
        <p:spPr>
          <a:xfrm>
            <a:off x="457200" y="4786312"/>
            <a:ext cx="2133600" cy="357188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6"/>
          </p:nvPr>
        </p:nvSpPr>
        <p:spPr>
          <a:xfrm>
            <a:off x="3124200" y="4786312"/>
            <a:ext cx="2895600" cy="35718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7" y="5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rtl="0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7A3075A-DB2B-49B4-A2B7-154D1AA8959B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rtl="0">
              <a:defRPr/>
            </a:pPr>
            <a:endParaRPr lang="zh-CN" altLang="en-US" sz="1800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005DD-E773-4F5A-9340-A864BD63329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7086632" y="4767268"/>
            <a:ext cx="2057400" cy="273844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E00D155-3BB6-43CF-9AC4-BC63A66E74A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"/>
          <p:cNvSpPr/>
          <p:nvPr/>
        </p:nvSpPr>
        <p:spPr>
          <a:xfrm>
            <a:off x="3" y="3805499"/>
            <a:ext cx="1767655" cy="133721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61" name="矩形"/>
          <p:cNvSpPr/>
          <p:nvPr/>
        </p:nvSpPr>
        <p:spPr>
          <a:xfrm>
            <a:off x="-1777" y="4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sp>
        <p:nvSpPr>
          <p:cNvPr id="60" name="矩形"/>
          <p:cNvSpPr/>
          <p:nvPr/>
        </p:nvSpPr>
        <p:spPr>
          <a:xfrm>
            <a:off x="5495466" y="4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pic>
        <p:nvPicPr>
          <p:cNvPr id="59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3" y="4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58" name="矩形"/>
          <p:cNvSpPr/>
          <p:nvPr/>
        </p:nvSpPr>
        <p:spPr>
          <a:xfrm>
            <a:off x="3676797" y="3801572"/>
            <a:ext cx="1763804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57" name="矩形"/>
          <p:cNvSpPr/>
          <p:nvPr/>
        </p:nvSpPr>
        <p:spPr>
          <a:xfrm>
            <a:off x="7165387" y="3801576"/>
            <a:ext cx="1978613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pic>
        <p:nvPicPr>
          <p:cNvPr id="56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55" name="图片"/>
          <p:cNvPicPr>
            <a:picLocks noChangeAspect="1"/>
          </p:cNvPicPr>
          <p:nvPr/>
        </p:nvPicPr>
        <p:blipFill>
          <a:blip r:embed="rId4" cstate="print"/>
          <a:srcRect l="15424" r="5265"/>
          <a:stretch>
            <a:fillRect/>
          </a:stretch>
        </p:blipFill>
        <p:spPr>
          <a:xfrm>
            <a:off x="1875901" y="3802362"/>
            <a:ext cx="1705073" cy="134113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54" name="图片"/>
          <p:cNvPicPr>
            <a:picLocks noChangeAspect="1"/>
          </p:cNvPicPr>
          <p:nvPr/>
        </p:nvPicPr>
        <p:blipFill>
          <a:blip r:embed="rId5" cstate="print"/>
          <a:srcRect t="34019"/>
          <a:stretch>
            <a:fillRect/>
          </a:stretch>
        </p:blipFill>
        <p:spPr>
          <a:xfrm>
            <a:off x="5528734" y="3803650"/>
            <a:ext cx="1548518" cy="13398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52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defTabSz="342900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3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algn="ctr" defTabSz="342900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  <a:prstGeom prst="rect">
            <a:avLst/>
          </a:prstGeom>
        </p:spPr>
        <p:txBody>
          <a:bodyPr lIns="68580" tIns="34290" rIns="68580" bIns="3429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6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5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3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2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91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9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89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649"/>
            <a:ext cx="6858000" cy="1241822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28650" y="1640582"/>
            <a:ext cx="7886700" cy="1862336"/>
          </a:xfrm>
        </p:spPr>
        <p:txBody>
          <a:bodyPr>
            <a:normAutofit/>
          </a:bodyPr>
          <a:lstStyle>
            <a:lvl1pPr algn="ctr">
              <a:defRPr sz="45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72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1707"/>
            <a:ext cx="3868340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72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1707"/>
            <a:ext cx="3887391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5" y="1619250"/>
            <a:ext cx="4286250" cy="1036838"/>
          </a:xfrm>
        </p:spPr>
        <p:txBody>
          <a:bodyPr anchor="b" anchorCtr="0">
            <a:normAutofit/>
          </a:bodyPr>
          <a:lstStyle>
            <a:lvl1pPr algn="ctr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2428875" y="2799901"/>
            <a:ext cx="4286250" cy="88945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8650" y="535255"/>
            <a:ext cx="3511241" cy="1071121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31888" y="535255"/>
            <a:ext cx="4283912" cy="40527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1735405"/>
            <a:ext cx="3511241" cy="2858691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7833674" y="273844"/>
            <a:ext cx="681676" cy="4358879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7084832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657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8C2575A-209A-4077-BDB9-E87416901EE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  <a:prstGeom prst="rect">
            <a:avLst/>
          </a:prstGeom>
        </p:spPr>
        <p:txBody>
          <a:bodyPr lIns="68580" tIns="34290" rIns="68580" bIns="3429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E1DD5CB2-2BE0-4481-86DD-C043327AC72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E624D8FF-74E7-4921-9CAE-4FFEFA02D82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F55FC455-35D6-4DA4-A437-CA85BC054C4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8244F59-D6B6-414B-BB66-C248F668D1E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B723C5AC-E4BE-40C3-A2A2-77E8E12E66D4}" type="datetime1">
              <a:rPr lang="zh-CN" altLang="en-US" smtClean="0"/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D0B67FDA-6E83-4134-875B-73AE362A8BA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F6FF0AD-7F40-439F-89AC-93E13C039AF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1E1C9F3-C561-4B1A-BD83-6A9F21FC9DB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BDB73528-A49F-47D6-A472-972E1FC21CA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l" defTabSz="257175">
              <a:defRPr/>
            </a:lvl1pPr>
          </a:lstStyle>
          <a:p>
            <a:fld id="{1BAD805B-FB8F-44B2-A44D-F7D899623CBA}" type="datetime1">
              <a:rPr lang="zh-CN" altLang="en-US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6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5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3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2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91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9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89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image" Target="../media/image1.jpeg"/><Relationship Id="rId18" Type="http://schemas.openxmlformats.org/officeDocument/2006/relationships/image" Target="../media/image2.jpeg"/><Relationship Id="rId19" Type="http://schemas.openxmlformats.org/officeDocument/2006/relationships/image" Target="../media/image3.png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image" Target="../media/image1.jpeg"/><Relationship Id="rId18" Type="http://schemas.openxmlformats.org/officeDocument/2006/relationships/image" Target="../media/image2.jpeg"/><Relationship Id="rId19" Type="http://schemas.openxmlformats.org/officeDocument/2006/relationships/image" Target="../media/image3.png"/><Relationship Id="rId20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49.xml"/><Relationship Id="rId18" Type="http://schemas.openxmlformats.org/officeDocument/2006/relationships/image" Target="../media/image1.jpeg"/><Relationship Id="rId19" Type="http://schemas.openxmlformats.org/officeDocument/2006/relationships/image" Target="../media/image2.jpeg"/><Relationship Id="rId20" Type="http://schemas.openxmlformats.org/officeDocument/2006/relationships/image" Target="../media/image3.png"/><Relationship Id="rId2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9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5.xml"/><Relationship Id="rId17" Type="http://schemas.openxmlformats.org/officeDocument/2006/relationships/image" Target="../media/image1.jpeg"/><Relationship Id="rId18" Type="http://schemas.openxmlformats.org/officeDocument/2006/relationships/image" Target="../media/image2.jpeg"/><Relationship Id="rId19" Type="http://schemas.openxmlformats.org/officeDocument/2006/relationships/image" Target="../media/image3.png"/><Relationship Id="rId20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78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9.jpeg"/><Relationship Id="rId17" Type="http://schemas.openxmlformats.org/officeDocument/2006/relationships/image" Target="../media/image10.jpeg"/><Relationship Id="rId18" Type="http://schemas.openxmlformats.org/officeDocument/2006/relationships/image" Target="../media/image3.png"/><Relationship Id="rId19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Relationship Id="rId9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1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3.png"/><Relationship Id="rId17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2.xml"/><Relationship Id="rId12" Type="http://schemas.openxmlformats.org/officeDocument/2006/relationships/tags" Target="../tags/tag1.xml"/><Relationship Id="rId13" Type="http://schemas.openxmlformats.org/officeDocument/2006/relationships/tags" Target="../tags/tag2.xml"/><Relationship Id="rId14" Type="http://schemas.openxmlformats.org/officeDocument/2006/relationships/tags" Target="../tags/tag3.xml"/><Relationship Id="rId15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3.png"/><Relationship Id="rId17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2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pic>
        <p:nvPicPr>
          <p:cNvPr id="28" name="图片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9" name="图片"/>
          <p:cNvPicPr/>
          <p:nvPr/>
        </p:nvPicPr>
        <p:blipFill>
          <a:blip r:embed="rId18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30" name="图片"/>
          <p:cNvPicPr>
            <a:picLocks noChangeAspect="1"/>
          </p:cNvPicPr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1777" y="6"/>
            <a:ext cx="3578407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95467" y="6"/>
            <a:ext cx="1802708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76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9187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73341" y="5001919"/>
            <a:ext cx="1772441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31924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29931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955" y="6"/>
            <a:ext cx="1765583" cy="789626"/>
          </a:xfrm>
          <a:prstGeom prst="rect">
            <a:avLst/>
          </a:prstGeom>
        </p:spPr>
      </p:pic>
      <p:pic>
        <p:nvPicPr>
          <p:cNvPr id="16" name="图片 60"/>
          <p:cNvPicPr/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59"/>
          <a:stretch>
            <a:fillRect/>
          </a:stretch>
        </p:blipFill>
        <p:spPr>
          <a:xfrm>
            <a:off x="7379105" y="3"/>
            <a:ext cx="1764895" cy="789626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89529" y="119826"/>
            <a:ext cx="1981200" cy="51316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1777" y="6"/>
            <a:ext cx="3578407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95467" y="6"/>
            <a:ext cx="1802708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76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9187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73341" y="5001919"/>
            <a:ext cx="1772441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31924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29931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955" y="6"/>
            <a:ext cx="1765583" cy="789626"/>
          </a:xfrm>
          <a:prstGeom prst="rect">
            <a:avLst/>
          </a:prstGeom>
        </p:spPr>
      </p:pic>
      <p:pic>
        <p:nvPicPr>
          <p:cNvPr id="16" name="图片 60"/>
          <p:cNvPicPr/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59"/>
          <a:stretch>
            <a:fillRect/>
          </a:stretch>
        </p:blipFill>
        <p:spPr>
          <a:xfrm>
            <a:off x="7379105" y="3"/>
            <a:ext cx="1764895" cy="789626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89529" y="119826"/>
            <a:ext cx="1981200" cy="51316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1777" y="6"/>
            <a:ext cx="3578407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95467" y="6"/>
            <a:ext cx="1802708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76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9187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73341" y="5001919"/>
            <a:ext cx="1772441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31924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29931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955" y="6"/>
            <a:ext cx="1765583" cy="789626"/>
          </a:xfrm>
          <a:prstGeom prst="rect">
            <a:avLst/>
          </a:prstGeom>
        </p:spPr>
      </p:pic>
      <p:pic>
        <p:nvPicPr>
          <p:cNvPr id="16" name="图片 60"/>
          <p:cNvPicPr/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59"/>
          <a:stretch>
            <a:fillRect/>
          </a:stretch>
        </p:blipFill>
        <p:spPr>
          <a:xfrm>
            <a:off x="7379105" y="3"/>
            <a:ext cx="1764895" cy="789626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89529" y="119826"/>
            <a:ext cx="1981200" cy="51316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/>
          <a:p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6" name="矩形"/>
          <p:cNvSpPr/>
          <p:nvPr/>
        </p:nvSpPr>
        <p:spPr>
          <a:xfrm>
            <a:off x="3" y="3805499"/>
            <a:ext cx="1767655" cy="133721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" name="矩形"/>
          <p:cNvSpPr/>
          <p:nvPr/>
        </p:nvSpPr>
        <p:spPr>
          <a:xfrm>
            <a:off x="-1777" y="4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sp>
        <p:nvSpPr>
          <p:cNvPr id="8" name="矩形"/>
          <p:cNvSpPr/>
          <p:nvPr/>
        </p:nvSpPr>
        <p:spPr>
          <a:xfrm>
            <a:off x="5495466" y="4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pic>
        <p:nvPicPr>
          <p:cNvPr id="9" name="图片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648953" y="4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0" name="矩形"/>
          <p:cNvSpPr/>
          <p:nvPr/>
        </p:nvSpPr>
        <p:spPr>
          <a:xfrm>
            <a:off x="3676797" y="3801572"/>
            <a:ext cx="1763804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11" name="文本框"/>
          <p:cNvSpPr>
            <a:spLocks noGrp="1"/>
          </p:cNvSpPr>
          <p:nvPr>
            <p:ph type="sldNum" idx="4"/>
          </p:nvPr>
        </p:nvSpPr>
        <p:spPr>
          <a:xfrm>
            <a:off x="6457950" y="4767268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700" smtClean="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7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2" name="矩形"/>
          <p:cNvSpPr/>
          <p:nvPr/>
        </p:nvSpPr>
        <p:spPr>
          <a:xfrm>
            <a:off x="7165387" y="3801576"/>
            <a:ext cx="1978613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pic>
        <p:nvPicPr>
          <p:cNvPr id="13" name="图片"/>
          <p:cNvPicPr/>
          <p:nvPr/>
        </p:nvPicPr>
        <p:blipFill>
          <a:blip r:embed="rId15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14" name="图片"/>
          <p:cNvPicPr>
            <a:picLocks noChangeAspect="1"/>
          </p:cNvPicPr>
          <p:nvPr/>
        </p:nvPicPr>
        <p:blipFill>
          <a:blip r:embed="rId16" cstate="print"/>
          <a:srcRect l="15424" r="5265"/>
          <a:stretch>
            <a:fillRect/>
          </a:stretch>
        </p:blipFill>
        <p:spPr>
          <a:xfrm>
            <a:off x="1875901" y="3802362"/>
            <a:ext cx="1705073" cy="134113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15" name="图片"/>
          <p:cNvPicPr>
            <a:picLocks noChangeAspect="1"/>
          </p:cNvPicPr>
          <p:nvPr/>
        </p:nvPicPr>
        <p:blipFill>
          <a:blip r:embed="rId17" cstate="print"/>
          <a:srcRect t="34019"/>
          <a:stretch>
            <a:fillRect/>
          </a:stretch>
        </p:blipFill>
        <p:spPr>
          <a:xfrm>
            <a:off x="5528734" y="3803650"/>
            <a:ext cx="1548518" cy="13398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16" name="图片"/>
          <p:cNvPicPr>
            <a:picLocks noChangeAspect="1"/>
          </p:cNvPicPr>
          <p:nvPr userDrawn="1"/>
        </p:nvPicPr>
        <p:blipFill>
          <a:blip r:embed="rId18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hf hdr="0" ftr="0" dt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2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3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5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6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7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8" name="图片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9" name="图片"/>
          <p:cNvPicPr/>
          <p:nvPr/>
        </p:nvPicPr>
        <p:blipFill>
          <a:blip r:embed="rId15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30" name="图片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hf hdr="0" ftr="0" dt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2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3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5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6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7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8" name="图片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9" name="图片"/>
          <p:cNvPicPr/>
          <p:nvPr/>
        </p:nvPicPr>
        <p:blipFill>
          <a:blip r:embed="rId15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30" name="图片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hf sldNum="0" hdr="0" ftr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3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四阶段计划：每个阶段的任务是干什么的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0040" y="1051560"/>
            <a:ext cx="2057400" cy="3977639"/>
          </a:xfrm>
          <a:prstGeom prst="roundRect">
            <a:avLst/>
          </a:prstGeom>
          <a:solidFill>
            <a:srgbClr val="F5FAFB"/>
          </a:solidFill>
          <a:ln w="9525">
            <a:solidFill>
              <a:srgbClr val="C9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1197864"/>
            <a:ext cx="1051560" cy="2743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  <a:ea typeface="微软雅黑"/>
              </a:rPr>
              <a:t>已建立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1536192"/>
            <a:ext cx="18745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① 臭氧水合基线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212848"/>
            <a:ext cx="1600200" cy="12700"/>
          </a:xfrm>
          <a:prstGeom prst="rect">
            <a:avLst/>
          </a:prstGeom>
          <a:solidFill>
            <a:srgbClr val="C9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340864"/>
            <a:ext cx="17830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100" b="1">
                <a:solidFill>
                  <a:srgbClr val="000000"/>
                </a:solidFill>
                <a:latin typeface="Times New Roman"/>
                <a:ea typeface="微软雅黑"/>
              </a:rPr>
              <a:t>固定计算方法与验收标准，算准 H₂O、O₃、O₂ 在气相和 SMD 水相的结构、能量与频率。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100" b="1">
                <a:solidFill>
                  <a:srgbClr val="000000"/>
                </a:solidFill>
                <a:latin typeface="Times New Roman"/>
                <a:ea typeface="微软雅黑"/>
              </a:rPr>
              <a:t>为后续所有反应计算提供参照点与统一方法口径（水相仍有未验收项）。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1051560"/>
            <a:ext cx="2057400" cy="3977639"/>
          </a:xfrm>
          <a:prstGeom prst="roundRect">
            <a:avLst/>
          </a:prstGeom>
          <a:solidFill>
            <a:srgbClr val="002060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71800" y="1197864"/>
            <a:ext cx="1051560" cy="27432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  <a:ea typeface="微软雅黑"/>
              </a:rPr>
              <a:t>当前阶段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1536192"/>
            <a:ext cx="18745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Times New Roman"/>
                <a:ea typeface="微软雅黑"/>
              </a:rPr>
              <a:t>② 目标物反应模型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2212848"/>
            <a:ext cx="16002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2340864"/>
            <a:ext cx="17830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C00000"/>
                </a:solidFill>
                <a:latin typeface="Times New Roman"/>
                <a:ea typeface="微软雅黑"/>
              </a:rPr>
              <a:t>任务：</a:t>
            </a:r>
            <a:r>
              <a:rPr sz="1100" b="1">
                <a:solidFill>
                  <a:srgbClr val="E8F1F8"/>
                </a:solidFill>
                <a:latin typeface="Times New Roman"/>
                <a:ea typeface="微软雅黑"/>
              </a:rPr>
              <a:t>研究氨氮与 O₃、活性氧的复合物/中间体——当前是 NH₃ 与 O₃ 的稳定接触构型。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Times New Roman"/>
                <a:ea typeface="微软雅黑"/>
              </a:rPr>
              <a:t>目的：</a:t>
            </a:r>
            <a:r>
              <a:rPr sz="1100" b="1">
                <a:solidFill>
                  <a:srgbClr val="E8F1F8"/>
                </a:solidFill>
                <a:latin typeface="Times New Roman"/>
                <a:ea typeface="微软雅黑"/>
              </a:rPr>
              <a:t>搞清反应起点：两分子如何结合、结合多强（已获 2 个驻点候选，核查中）。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1051560"/>
            <a:ext cx="2057400" cy="3977639"/>
          </a:xfrm>
          <a:prstGeom prst="roundRect">
            <a:avLst/>
          </a:prstGeom>
          <a:solidFill>
            <a:srgbClr val="F5FAFB"/>
          </a:solidFill>
          <a:ln w="9525">
            <a:solidFill>
              <a:srgbClr val="C9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0640" y="1197864"/>
            <a:ext cx="1051560" cy="2743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  <a:ea typeface="微软雅黑"/>
              </a:rPr>
              <a:t>尚未开展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1536192"/>
            <a:ext cx="18745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③ 反应路径与能垒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212848"/>
            <a:ext cx="1600200" cy="12700"/>
          </a:xfrm>
          <a:prstGeom prst="rect">
            <a:avLst/>
          </a:prstGeom>
          <a:solidFill>
            <a:srgbClr val="C9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340864"/>
            <a:ext cx="17830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100" b="1">
                <a:solidFill>
                  <a:srgbClr val="000000"/>
                </a:solidFill>
                <a:latin typeface="Times New Roman"/>
                <a:ea typeface="微软雅黑"/>
              </a:rPr>
              <a:t>对优先反应路径做过渡态（TS）、频率与 IRC 验证，算出反应能和能垒。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100" b="1">
                <a:solidFill>
                  <a:srgbClr val="000000"/>
                </a:solidFill>
                <a:latin typeface="Times New Roman"/>
                <a:ea typeface="微软雅黑"/>
              </a:rPr>
              <a:t>回答反应走哪条路、哪一步最慢、需要多大能量——直接对应工艺条件选择。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1051560"/>
            <a:ext cx="2057400" cy="3977639"/>
          </a:xfrm>
          <a:prstGeom prst="roundRect">
            <a:avLst/>
          </a:prstGeom>
          <a:solidFill>
            <a:srgbClr val="F5FAFB"/>
          </a:solidFill>
          <a:ln w="9525">
            <a:solidFill>
              <a:srgbClr val="C9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69480" y="1197864"/>
            <a:ext cx="1051560" cy="2743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  <a:ea typeface="微软雅黑"/>
              </a:rPr>
              <a:t>尚未开展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536192"/>
            <a:ext cx="18745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④ UV 激发态·气液界面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2212848"/>
            <a:ext cx="1600200" cy="12700"/>
          </a:xfrm>
          <a:prstGeom prst="rect">
            <a:avLst/>
          </a:prstGeom>
          <a:solidFill>
            <a:srgbClr val="C9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2340864"/>
            <a:ext cx="17830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100" b="1">
                <a:solidFill>
                  <a:srgbClr val="000000"/>
                </a:solidFill>
                <a:latin typeface="Times New Roman"/>
                <a:ea typeface="微软雅黑"/>
              </a:rPr>
              <a:t>研究 UV 激发态（TD-DFT/光化学）与气液界面（微纳米气泡表面）的分子模型。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100" b="1">
                <a:solidFill>
                  <a:srgbClr val="000000"/>
                </a:solidFill>
                <a:latin typeface="Times New Roman"/>
                <a:ea typeface="微软雅黑"/>
              </a:rPr>
              <a:t>解释紫外增强效果与气泡界面提高利用率的原因，须结合实验条件论证后立项。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3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四阶段计划：每个阶段的任务是干什么的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0040" y="1024128"/>
            <a:ext cx="4160520" cy="2286000"/>
          </a:xfrm>
          <a:prstGeom prst="roundRect">
            <a:avLst/>
          </a:prstGeom>
          <a:solidFill>
            <a:srgbClr val="F5FAFB"/>
          </a:solidFill>
          <a:ln w="9525">
            <a:solidFill>
              <a:srgbClr val="C9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1521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02060"/>
                </a:solidFill>
                <a:latin typeface="Times New Roman"/>
                <a:ea typeface="微软雅黑"/>
              </a:rPr>
              <a:t>① 臭氧水合基线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170432"/>
            <a:ext cx="1005840" cy="2743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  <a:ea typeface="微软雅黑"/>
              </a:rPr>
              <a:t>已建立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627632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固定计算方法与验收标准，算准 H₂O、O₃、O₂ 在气相和 SMD 水相的结构、能量与频率。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为后续所有反应计算提供参照点与统一方法口径（水相仍有未验收项）。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024128"/>
            <a:ext cx="4160520" cy="2286000"/>
          </a:xfrm>
          <a:prstGeom prst="roundRect">
            <a:avLst/>
          </a:prstGeom>
          <a:solidFill>
            <a:srgbClr val="002060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1521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Times New Roman"/>
                <a:ea typeface="微软雅黑"/>
              </a:rPr>
              <a:t>② 目标物反应模型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170432"/>
            <a:ext cx="1005840" cy="27432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  <a:ea typeface="微软雅黑"/>
              </a:rPr>
              <a:t>当前阶段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627632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E3D1"/>
                </a:solidFill>
                <a:latin typeface="Times New Roman"/>
                <a:ea typeface="微软雅黑"/>
              </a:rPr>
              <a:t>任务：</a:t>
            </a:r>
            <a:r>
              <a:rPr sz="1200" b="1">
                <a:solidFill>
                  <a:srgbClr val="E8F1F8"/>
                </a:solidFill>
                <a:latin typeface="Times New Roman"/>
                <a:ea typeface="微软雅黑"/>
              </a:rPr>
              <a:t>研究氨氮与 O₃、活性氧的复合物/中间体——当前是 NH₃ 与 O₃ 的稳定接触构型。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FE3D1"/>
                </a:solidFill>
                <a:latin typeface="Times New Roman"/>
                <a:ea typeface="微软雅黑"/>
              </a:rPr>
              <a:t>目的：</a:t>
            </a:r>
            <a:r>
              <a:rPr sz="1200" b="1">
                <a:solidFill>
                  <a:srgbClr val="E8F1F8"/>
                </a:solidFill>
                <a:latin typeface="Times New Roman"/>
                <a:ea typeface="微软雅黑"/>
              </a:rPr>
              <a:t>搞清反应起点：两分子如何结合、结合多强（已获 2 个驻点候选，核查中）。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3456432"/>
            <a:ext cx="4160520" cy="2286000"/>
          </a:xfrm>
          <a:prstGeom prst="roundRect">
            <a:avLst/>
          </a:prstGeom>
          <a:solidFill>
            <a:srgbClr val="F5FAFB"/>
          </a:solidFill>
          <a:ln w="9525">
            <a:solidFill>
              <a:srgbClr val="C9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844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02060"/>
                </a:solidFill>
                <a:latin typeface="Times New Roman"/>
                <a:ea typeface="微软雅黑"/>
              </a:rPr>
              <a:t>③ 反应路径与能垒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602736"/>
            <a:ext cx="1005840" cy="2743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  <a:ea typeface="微软雅黑"/>
              </a:rPr>
              <a:t>尚未开展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059935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对优先反应路径做过渡态（TS）、频率与 IRC 验证，算出反应能和能垒。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回答反应走哪条路、哪一步最慢、需要多大能量——直接对应工艺条件选择。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456432"/>
            <a:ext cx="4160520" cy="2286000"/>
          </a:xfrm>
          <a:prstGeom prst="roundRect">
            <a:avLst/>
          </a:prstGeom>
          <a:solidFill>
            <a:srgbClr val="F5FAFB"/>
          </a:solidFill>
          <a:ln w="9525">
            <a:solidFill>
              <a:srgbClr val="C9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5844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02060"/>
                </a:solidFill>
                <a:latin typeface="Times New Roman"/>
                <a:ea typeface="微软雅黑"/>
              </a:rPr>
              <a:t>④ UV 激发态·气液界面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3602736"/>
            <a:ext cx="1005840" cy="27432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  <a:ea typeface="微软雅黑"/>
              </a:rPr>
              <a:t>尚未开展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059935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研究 UV 激发态（TD-DFT/光化学）与气液界面（微纳米气泡表面）的分子模型。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解释紫外增强效果与气泡界面提高利用率的原因，须结合实验条件论证后立项。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3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四阶段计划：每个阶段的任务是干什么的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1325880"/>
            <a:ext cx="31750" cy="361188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" y="1069848"/>
            <a:ext cx="475488" cy="47548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微软雅黑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051560"/>
            <a:ext cx="749807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02060"/>
                </a:solidFill>
                <a:latin typeface="Times New Roman"/>
                <a:ea typeface="微软雅黑"/>
              </a:rPr>
              <a:t>① 臭氧水合基线</a:t>
            </a:r>
            <a:r>
              <a:rPr sz="1150" b="1">
                <a:solidFill>
                  <a:srgbClr val="5B7080"/>
                </a:solidFill>
                <a:latin typeface="Times New Roman"/>
                <a:ea typeface="微软雅黑"/>
              </a:rPr>
              <a:t>　已建立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1435607"/>
            <a:ext cx="749807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固定计算方法与验收标准，算准 H₂O、O₃、O₂ 在气相和 SMD 水相的结构、能量与频率。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为后续所有反应计算提供参照点与统一方法口径（水相仍有未验收项）。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2075688"/>
            <a:ext cx="475488" cy="47548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微软雅黑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057400"/>
            <a:ext cx="749807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02060"/>
                </a:solidFill>
                <a:latin typeface="Times New Roman"/>
                <a:ea typeface="微软雅黑"/>
              </a:rPr>
              <a:t>② 目标物反应模型</a:t>
            </a:r>
            <a:r>
              <a:rPr sz="1150" b="1">
                <a:solidFill>
                  <a:srgbClr val="C00000"/>
                </a:solidFill>
                <a:latin typeface="Times New Roman"/>
                <a:ea typeface="微软雅黑"/>
              </a:rPr>
              <a:t>　当前阶段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441448"/>
            <a:ext cx="749807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研究氨氮与 O₃、活性氧的复合物/中间体——当前是 NH₃ 与 O₃ 的稳定接触构型。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搞清反应起点：两分子如何结合、结合多强（已获 2 个驻点候选，核查中）。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3081528"/>
            <a:ext cx="475488" cy="47548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微软雅黑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063240"/>
            <a:ext cx="749807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02060"/>
                </a:solidFill>
                <a:latin typeface="Times New Roman"/>
                <a:ea typeface="微软雅黑"/>
              </a:rPr>
              <a:t>③ 反应路径与能垒</a:t>
            </a:r>
            <a:r>
              <a:rPr sz="1150" b="1">
                <a:solidFill>
                  <a:srgbClr val="5B7080"/>
                </a:solidFill>
                <a:latin typeface="Times New Roman"/>
                <a:ea typeface="微软雅黑"/>
              </a:rPr>
              <a:t>　尚未开展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447288"/>
            <a:ext cx="749807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对优先反应路径做过渡态（TS）、频率与 IRC 验证，算出反应能和能垒。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回答反应走哪条路、哪一步最慢、需要多大能量——直接对应工艺条件选择。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4087368"/>
            <a:ext cx="475488" cy="47548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微软雅黑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069080"/>
            <a:ext cx="749807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002060"/>
                </a:solidFill>
                <a:latin typeface="Times New Roman"/>
                <a:ea typeface="微软雅黑"/>
              </a:rPr>
              <a:t>④ UV 激发态·气液界面</a:t>
            </a:r>
            <a:r>
              <a:rPr sz="1150" b="1">
                <a:solidFill>
                  <a:srgbClr val="5B7080"/>
                </a:solidFill>
                <a:latin typeface="Times New Roman"/>
                <a:ea typeface="微软雅黑"/>
              </a:rPr>
              <a:t>　尚未开展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453128"/>
            <a:ext cx="749807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任务：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研究 UV 激发态（TD-DFT/光化学）与气液界面（微纳米气泡表面）的分子模型。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目的：</a:t>
            </a: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解释紫外增强效果与气泡界面提高利用率的原因，须结合实验条件论证后立项。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64.xml><?xml version="1.0" encoding="utf-8"?>
<p:tagLst xmlns:p="http://schemas.openxmlformats.org/presentationml/2006/main">
  <p:tag name="KSO_WPP_MARK_KEY" val="673a0a08-aba2-4146-b58e-bc5c92cf35e5"/>
  <p:tag name="COMMONDATA" val="eyJoZGlkIjoiM2VlNDEyYzZiZWE4M2QwODAyMGZhMzYxMDNhZjgxYmUifQ=="/>
</p:tagLst>
</file>

<file path=ppt/theme/theme1.xml><?xml version="1.0" encoding="utf-8"?>
<a:theme xmlns:a="http://schemas.openxmlformats.org/drawingml/2006/main" name="1_Office 主题​​">
  <a:themeElements>
    <a:clrScheme name="1_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​​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​​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000" b="1" kern="100" dirty="0">
            <a:solidFill>
              <a:srgbClr val="1A6693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000" b="1" kern="100" dirty="0">
            <a:solidFill>
              <a:srgbClr val="1A6693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000" b="1" kern="100" dirty="0">
            <a:solidFill>
              <a:srgbClr val="1A6693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自定义设计方案">
  <a:themeElements>
    <a:clrScheme name="3_自定义设计方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3_自定义设计方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3_自定义设计方案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​​">
  <a:themeElements>
    <a:clrScheme name="1_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​​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​​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0_Office 主题​​">
  <a:themeElements>
    <a:clrScheme name="1_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​​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​​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3984</Words>
  <Application>WPS 演示</Application>
  <PresentationFormat>全屏显示(16:9)</PresentationFormat>
  <Paragraphs>183</Paragraphs>
  <Slides>25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25</vt:i4>
      </vt:variant>
    </vt:vector>
  </HeadingPairs>
  <TitlesOfParts>
    <vt:vector size="50" baseType="lpstr">
      <vt:lpstr>Arial</vt:lpstr>
      <vt:lpstr>宋体</vt:lpstr>
      <vt:lpstr>Wingdings</vt:lpstr>
      <vt:lpstr>Calibri Light</vt:lpstr>
      <vt:lpstr>Calibri</vt:lpstr>
      <vt:lpstr>微软雅黑</vt:lpstr>
      <vt:lpstr>Times New Roman</vt:lpstr>
      <vt:lpstr>Calibri</vt:lpstr>
      <vt:lpstr>等线</vt:lpstr>
      <vt:lpstr>华文细黑</vt:lpstr>
      <vt:lpstr>黑体</vt:lpstr>
      <vt:lpstr>Wingdings</vt:lpstr>
      <vt:lpstr>Arial Unicode MS</vt:lpstr>
      <vt:lpstr>BatangChe</vt:lpstr>
      <vt:lpstr>FFont-Family</vt:lpstr>
      <vt:lpstr>华文细黑</vt:lpstr>
      <vt:lpstr>MS PGothic</vt:lpstr>
      <vt:lpstr>1_Office 主题​​</vt:lpstr>
      <vt:lpstr>3_Office 主题​​</vt:lpstr>
      <vt:lpstr>2_Office 主题​​</vt:lpstr>
      <vt:lpstr>6_Office 主题​​</vt:lpstr>
      <vt:lpstr>4_自定义设计方案</vt:lpstr>
      <vt:lpstr>4_Office 主题​​</vt:lpstr>
      <vt:lpstr>4_Office 主题</vt:lpstr>
      <vt:lpstr>10_Office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人心难测</cp:lastModifiedBy>
  <cp:revision>2909</cp:revision>
  <cp:lastPrinted>2025-04-28T09:50:00Z</cp:lastPrinted>
  <dcterms:created xsi:type="dcterms:W3CDTF">2025-04-28T09:50:00Z</dcterms:created>
  <dcterms:modified xsi:type="dcterms:W3CDTF">2026-06-18T09:49:25Z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KSORubyTemplateID">
    <vt:lpwstr>2</vt:lpwstr>
  </property>
  <property fmtid="{D5CDD505-2E9C-101B-9397-08002B2CF9AE}" pid="4" name="ICV">
    <vt:lpwstr>63078995DEAF4DA4B1240E332C0B10DC_13</vt:lpwstr>
  </property>
</Properties>
</file>